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Syne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Syne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Syn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a918387e6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5a918387e6_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5a918387e6_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a918387e6_4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5a918387e6_4_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5a918387e6_4_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5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Relationship Id="rId5" Type="http://schemas.openxmlformats.org/officeDocument/2006/relationships/image" Target="../media/image30.png"/><Relationship Id="rId6" Type="http://schemas.openxmlformats.org/officeDocument/2006/relationships/image" Target="../media/image46.png"/><Relationship Id="rId7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11" Type="http://schemas.openxmlformats.org/officeDocument/2006/relationships/image" Target="../media/image44.png"/><Relationship Id="rId10" Type="http://schemas.openxmlformats.org/officeDocument/2006/relationships/image" Target="../media/image58.png"/><Relationship Id="rId9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image36.png"/><Relationship Id="rId7" Type="http://schemas.openxmlformats.org/officeDocument/2006/relationships/image" Target="../media/image40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3.png"/><Relationship Id="rId4" Type="http://schemas.openxmlformats.org/officeDocument/2006/relationships/image" Target="../media/image51.png"/><Relationship Id="rId5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11" Type="http://schemas.openxmlformats.org/officeDocument/2006/relationships/image" Target="../media/image50.png"/><Relationship Id="rId10" Type="http://schemas.openxmlformats.org/officeDocument/2006/relationships/image" Target="../media/image52.png"/><Relationship Id="rId9" Type="http://schemas.openxmlformats.org/officeDocument/2006/relationships/image" Target="../media/image66.png"/><Relationship Id="rId5" Type="http://schemas.openxmlformats.org/officeDocument/2006/relationships/image" Target="../media/image47.png"/><Relationship Id="rId6" Type="http://schemas.openxmlformats.org/officeDocument/2006/relationships/image" Target="../media/image56.png"/><Relationship Id="rId7" Type="http://schemas.openxmlformats.org/officeDocument/2006/relationships/image" Target="../media/image49.png"/><Relationship Id="rId8" Type="http://schemas.openxmlformats.org/officeDocument/2006/relationships/image" Target="../media/image6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8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1.png"/><Relationship Id="rId4" Type="http://schemas.openxmlformats.org/officeDocument/2006/relationships/image" Target="../media/image55.png"/><Relationship Id="rId5" Type="http://schemas.openxmlformats.org/officeDocument/2006/relationships/image" Target="../media/image67.png"/><Relationship Id="rId6" Type="http://schemas.openxmlformats.org/officeDocument/2006/relationships/image" Target="../media/image60.png"/><Relationship Id="rId7" Type="http://schemas.openxmlformats.org/officeDocument/2006/relationships/image" Target="../media/image62.png"/><Relationship Id="rId8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1401604"/>
            <a:ext cx="7556421" cy="2835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4450"/>
              <a:buFont typeface="Syne"/>
              <a:buNone/>
            </a:pPr>
            <a:r>
              <a:rPr b="1" i="0" lang="en-US" sz="44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BurnoutCheck IA - Check-in Multimodal Experimental</a:t>
            </a:r>
            <a:endParaRPr b="0" i="0" sz="445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6280190" y="4576882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Explorando IA Multimodal e Visão Computacional para Bem-Estar</a:t>
            </a:r>
            <a:endParaRPr b="0" i="0" sz="1750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6280190" y="5194935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Felipe Caires Jaques</a:t>
            </a:r>
            <a:endParaRPr b="0" i="0" sz="1750" u="none" cap="none" strike="noStrike"/>
          </a:p>
        </p:txBody>
      </p:sp>
      <p:sp>
        <p:nvSpPr>
          <p:cNvPr id="60" name="Google Shape;60;p13"/>
          <p:cNvSpPr/>
          <p:nvPr/>
        </p:nvSpPr>
        <p:spPr>
          <a:xfrm>
            <a:off x="6280190" y="581298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Imersão IA-Alura 2025</a:t>
            </a:r>
            <a:endParaRPr b="0" i="0" sz="1750" u="none" cap="none" strike="noStrike"/>
          </a:p>
        </p:txBody>
      </p:sp>
      <p:sp>
        <p:nvSpPr>
          <p:cNvPr id="61" name="Google Shape;61;p13"/>
          <p:cNvSpPr/>
          <p:nvPr/>
        </p:nvSpPr>
        <p:spPr>
          <a:xfrm>
            <a:off x="6280190" y="6447949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4D4D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7810" y="6455569"/>
            <a:ext cx="347663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6756440" y="6431042"/>
            <a:ext cx="2752725" cy="39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2200"/>
              <a:buFont typeface="Syne"/>
              <a:buNone/>
            </a:pPr>
            <a:r>
              <a:t/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6280190" y="1183481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4450"/>
              <a:buFont typeface="Syne"/>
              <a:buNone/>
            </a:pPr>
            <a:r>
              <a:rPr b="1" i="0" lang="en-US" sz="44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O Projeto: Uma Ferramenta Experimental</a:t>
            </a:r>
            <a:endParaRPr b="0" i="0" sz="44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6280190" y="3649980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547808"/>
          </a:solidFill>
          <a:ln cap="flat" cmpd="sng" w="9525">
            <a:solidFill>
              <a:srgbClr val="6D9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5260" y="369248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/>
          <p:nvPr/>
        </p:nvSpPr>
        <p:spPr>
          <a:xfrm>
            <a:off x="7017306" y="3727847"/>
            <a:ext cx="289941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Proposta Inovadora</a:t>
            </a:r>
            <a:endParaRPr b="0" i="0" sz="22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017306" y="4572595"/>
            <a:ext cx="28994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Resposta à importância do bem-estar mental no cotidiano.</a:t>
            </a:r>
            <a:endParaRPr b="0" i="0" sz="175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10200203" y="3649980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547808"/>
          </a:solidFill>
          <a:ln cap="flat" cmpd="sng" w="9525">
            <a:solidFill>
              <a:srgbClr val="6D9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5274" y="3692485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/>
          <p:nvPr/>
        </p:nvSpPr>
        <p:spPr>
          <a:xfrm>
            <a:off x="10937319" y="3727847"/>
            <a:ext cx="289941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Check-in Rápido</a:t>
            </a:r>
            <a:endParaRPr b="0" i="0" sz="22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10937319" y="4572595"/>
            <a:ext cx="289941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Combina texto e imagem para uma experiência completa.</a:t>
            </a:r>
            <a:endParaRPr b="0" i="0" sz="175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6280190" y="6114931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547808"/>
          </a:solidFill>
          <a:ln cap="flat" cmpd="sng" w="9525">
            <a:solidFill>
              <a:srgbClr val="6D9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5260" y="6157436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7017306" y="6192798"/>
            <a:ext cx="526565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Protótipo Experimental</a:t>
            </a:r>
            <a:endParaRPr b="0" i="0" sz="22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7017306" y="6683216"/>
            <a:ext cx="681930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Não constitui ferramenta de diagnóstico. Propósito educacional.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793790" y="623768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4450"/>
              <a:buFont typeface="Syne"/>
              <a:buNone/>
            </a:pPr>
            <a:r>
              <a:rPr b="1" i="0" lang="en-US" sz="44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Indo Além do Texto: Multimodalidade</a:t>
            </a:r>
            <a:endParaRPr b="0" i="0" sz="445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793790" y="2608302"/>
            <a:ext cx="397811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Comunicação Natural</a:t>
            </a:r>
            <a:endParaRPr b="0" i="0" sz="220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793790" y="3543776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Combina texto (relato subjetivo) e imagem (expressões faciais).</a:t>
            </a:r>
            <a:endParaRPr b="0" i="0" sz="175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793790" y="4473654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Oferece perspectiva mais rica para análise pela IA.</a:t>
            </a:r>
            <a:endParaRPr b="0" i="0" sz="175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5332928" y="2608302"/>
            <a:ext cx="397811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Visão Computacional</a:t>
            </a:r>
            <a:endParaRPr b="0" i="0" sz="220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5332928" y="3543776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OpenCV adiciona processamento visual estruturado.</a:t>
            </a:r>
            <a:endParaRPr b="0" i="0" sz="175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5332928" y="4473654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Fornece dados objetivos que informam a análise do LLM.</a:t>
            </a:r>
            <a:endParaRPr b="0" i="0" sz="175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9872067" y="2608302"/>
            <a:ext cx="3978116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Experiência Enriquecida</a:t>
            </a:r>
            <a:endParaRPr b="0" i="0" sz="220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9872067" y="3543776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Projeto verdadeiramente multimodal na entrada e processamento.</a:t>
            </a:r>
            <a:endParaRPr b="0" i="0" sz="1750" u="none" cap="none" strike="noStrike"/>
          </a:p>
        </p:txBody>
      </p:sp>
      <p:sp>
        <p:nvSpPr>
          <p:cNvPr id="97" name="Google Shape;97;p15"/>
          <p:cNvSpPr/>
          <p:nvPr/>
        </p:nvSpPr>
        <p:spPr>
          <a:xfrm>
            <a:off x="9872067" y="4473654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Etapas explícitas que melhoram a qualidade da análise.</a:t>
            </a:r>
            <a:endParaRPr b="0" i="0" sz="1750" u="none" cap="none" strike="noStrike"/>
          </a:p>
        </p:txBody>
      </p:sp>
      <p:pic>
        <p:nvPicPr>
          <p:cNvPr descr="preencoded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5658683"/>
            <a:ext cx="1950720" cy="195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6280190" y="857012"/>
            <a:ext cx="7556421" cy="1204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3750"/>
              <a:buFont typeface="Syne"/>
              <a:buNone/>
            </a:pPr>
            <a:r>
              <a:rPr b="1" i="0" lang="en-US" sz="37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O Stack Tecnológico</a:t>
            </a:r>
            <a:endParaRPr b="0" i="0" sz="3750" u="none" cap="none" strike="noStrike"/>
          </a:p>
        </p:txBody>
      </p:sp>
      <p:pic>
        <p:nvPicPr>
          <p:cNvPr descr="preencoded.png" id="106" name="Google Shape;1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351127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6280190" y="3025854"/>
            <a:ext cx="2358152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850"/>
              <a:buFont typeface="Syne"/>
              <a:buNone/>
            </a:pPr>
            <a:r>
              <a:rPr b="1" i="0" lang="en-US" sz="18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Google Colab</a:t>
            </a:r>
            <a:endParaRPr b="0" i="0" sz="1850" u="none" cap="none" strike="noStrike"/>
          </a:p>
        </p:txBody>
      </p:sp>
      <p:sp>
        <p:nvSpPr>
          <p:cNvPr id="108" name="Google Shape;108;p16"/>
          <p:cNvSpPr/>
          <p:nvPr/>
        </p:nvSpPr>
        <p:spPr>
          <a:xfrm>
            <a:off x="6280190" y="3743920"/>
            <a:ext cx="2358152" cy="1233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00"/>
              <a:buFont typeface="Syne"/>
              <a:buNone/>
            </a:pPr>
            <a:r>
              <a:rPr b="0" i="0" lang="en-US" sz="15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Ambiente flexível baseado em nuvem para prototipagem rápida em Python.</a:t>
            </a:r>
            <a:endParaRPr b="0" i="0" sz="1500" u="none" cap="none" strike="noStrike"/>
          </a:p>
        </p:txBody>
      </p:sp>
      <p:pic>
        <p:nvPicPr>
          <p:cNvPr descr="preencoded.png" id="109" name="Google Shape;10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79324" y="2351127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8879324" y="3025854"/>
            <a:ext cx="2358152" cy="903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850"/>
              <a:buFont typeface="Syne"/>
              <a:buNone/>
            </a:pPr>
            <a:r>
              <a:rPr b="1" i="0" lang="en-US" sz="18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Google Generative AI</a:t>
            </a:r>
            <a:endParaRPr b="0" i="0" sz="185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8879324" y="4045148"/>
            <a:ext cx="2358152" cy="925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00"/>
              <a:buFont typeface="Syne"/>
              <a:buNone/>
            </a:pPr>
            <a:r>
              <a:rPr b="0" i="0" lang="en-US" sz="15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Modelo Gemini 1.5-flash-latest com excelente capacidade multimodal.</a:t>
            </a:r>
            <a:endParaRPr b="0" i="0" sz="1500" u="none" cap="none" strike="noStrike"/>
          </a:p>
        </p:txBody>
      </p:sp>
      <p:pic>
        <p:nvPicPr>
          <p:cNvPr descr="preencoded.png" id="112" name="Google Shape;11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78458" y="2351127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11478458" y="3025854"/>
            <a:ext cx="2358152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850"/>
              <a:buFont typeface="Syne"/>
              <a:buNone/>
            </a:pPr>
            <a:r>
              <a:rPr b="1" i="0" lang="en-US" sz="18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Gradio</a:t>
            </a:r>
            <a:endParaRPr b="0" i="0" sz="1850" u="none" cap="none" strike="noStrike"/>
          </a:p>
        </p:txBody>
      </p:sp>
      <p:sp>
        <p:nvSpPr>
          <p:cNvPr id="114" name="Google Shape;114;p16"/>
          <p:cNvSpPr/>
          <p:nvPr/>
        </p:nvSpPr>
        <p:spPr>
          <a:xfrm>
            <a:off x="11478458" y="3442692"/>
            <a:ext cx="2358152" cy="925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00"/>
              <a:buFont typeface="Syne"/>
              <a:buNone/>
            </a:pPr>
            <a:r>
              <a:rPr b="0" i="0" lang="en-US" sz="15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Interface web interativa e compartilhável via links .gradio.live.</a:t>
            </a:r>
            <a:endParaRPr b="0" i="0" sz="1500" u="none" cap="none" strike="noStrike"/>
          </a:p>
        </p:txBody>
      </p:sp>
      <p:pic>
        <p:nvPicPr>
          <p:cNvPr descr="preencoded.png" id="115" name="Google Shape;11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0190" y="5362932"/>
            <a:ext cx="481965" cy="48196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/>
          <p:nvPr/>
        </p:nvSpPr>
        <p:spPr>
          <a:xfrm>
            <a:off x="6280190" y="6037659"/>
            <a:ext cx="2358152" cy="602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850"/>
              <a:buFont typeface="Syne"/>
              <a:buNone/>
            </a:pPr>
            <a:r>
              <a:rPr b="1" i="0" lang="en-US" sz="18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OpenCV e Pillow</a:t>
            </a:r>
            <a:endParaRPr b="0" i="0" sz="1850" u="none" cap="none" strike="noStrike"/>
          </a:p>
        </p:txBody>
      </p:sp>
      <p:sp>
        <p:nvSpPr>
          <p:cNvPr id="117" name="Google Shape;117;p16"/>
          <p:cNvSpPr/>
          <p:nvPr/>
        </p:nvSpPr>
        <p:spPr>
          <a:xfrm>
            <a:off x="6280190" y="6755725"/>
            <a:ext cx="2358152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00"/>
              <a:buFont typeface="Syne"/>
              <a:buNone/>
            </a:pPr>
            <a:r>
              <a:rPr b="0" i="0" lang="en-US" sz="15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Processamento de imagens e detecção facial.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780812" y="613648"/>
            <a:ext cx="7582376" cy="188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50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3950"/>
              <a:buFont typeface="Syne"/>
              <a:buNone/>
            </a:pPr>
            <a:r>
              <a:rPr b="1" i="0" lang="en-US" sz="39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Como Funciona: O Fluxo de Processamento</a:t>
            </a:r>
            <a:endParaRPr b="0" i="0" sz="3950" u="none" cap="none" strike="noStrike"/>
          </a:p>
        </p:txBody>
      </p:sp>
      <p:pic>
        <p:nvPicPr>
          <p:cNvPr descr="preencoded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812" y="2797135"/>
            <a:ext cx="1003935" cy="120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/>
          <p:nvPr/>
        </p:nvSpPr>
        <p:spPr>
          <a:xfrm>
            <a:off x="2085856" y="2997875"/>
            <a:ext cx="4166354" cy="31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950"/>
              <a:buFont typeface="Syne"/>
              <a:buNone/>
            </a:pPr>
            <a:r>
              <a:rPr b="1" i="0" lang="en-US" sz="19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Interação do Usuário</a:t>
            </a:r>
            <a:endParaRPr b="0" i="0" sz="1950" u="none" cap="none" strike="noStrike"/>
          </a:p>
        </p:txBody>
      </p:sp>
      <p:sp>
        <p:nvSpPr>
          <p:cNvPr id="127" name="Google Shape;127;p17"/>
          <p:cNvSpPr/>
          <p:nvPr/>
        </p:nvSpPr>
        <p:spPr>
          <a:xfrm>
            <a:off x="2085856" y="3431977"/>
            <a:ext cx="6277332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0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Descrição textual e upload de selfie via interface Gradio.</a:t>
            </a:r>
            <a:endParaRPr b="0" i="0" sz="1550" u="none" cap="none" strike="noStrike"/>
          </a:p>
        </p:txBody>
      </p:sp>
      <p:pic>
        <p:nvPicPr>
          <p:cNvPr descr="preencoded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812" y="4001810"/>
            <a:ext cx="1003935" cy="120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2085856" y="4202549"/>
            <a:ext cx="4484965" cy="31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950"/>
              <a:buFont typeface="Syne"/>
              <a:buNone/>
            </a:pPr>
            <a:r>
              <a:rPr b="1" i="0" lang="en-US" sz="19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Processamento Visual</a:t>
            </a:r>
            <a:endParaRPr b="0" i="0" sz="1950" u="none" cap="none" strike="noStrike"/>
          </a:p>
        </p:txBody>
      </p:sp>
      <p:sp>
        <p:nvSpPr>
          <p:cNvPr id="130" name="Google Shape;130;p17"/>
          <p:cNvSpPr/>
          <p:nvPr/>
        </p:nvSpPr>
        <p:spPr>
          <a:xfrm>
            <a:off x="2085856" y="4636651"/>
            <a:ext cx="6277332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0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OpenCV detecta face e desenha retângulo na imagem.</a:t>
            </a:r>
            <a:endParaRPr b="0" i="0" sz="1550" u="none" cap="none" strike="noStrike"/>
          </a:p>
        </p:txBody>
      </p:sp>
      <p:pic>
        <p:nvPicPr>
          <p:cNvPr descr="preencoded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0812" y="5206484"/>
            <a:ext cx="1003935" cy="120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2085856" y="5407223"/>
            <a:ext cx="2875240" cy="31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950"/>
              <a:buFont typeface="Syne"/>
              <a:buNone/>
            </a:pPr>
            <a:r>
              <a:rPr b="1" i="0" lang="en-US" sz="19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Análise pela IA</a:t>
            </a:r>
            <a:endParaRPr b="0" i="0" sz="19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2085856" y="5841325"/>
            <a:ext cx="6277332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0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Prompt (texto + status) e imagem enviados ao Gemini.</a:t>
            </a:r>
            <a:endParaRPr b="0" i="0" sz="1550" u="none" cap="none" strike="noStrike"/>
          </a:p>
        </p:txBody>
      </p:sp>
      <p:pic>
        <p:nvPicPr>
          <p:cNvPr descr="preencoded.png" id="134" name="Google Shape;13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0812" y="6411158"/>
            <a:ext cx="1003935" cy="120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2085856" y="6611898"/>
            <a:ext cx="2509957" cy="313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950"/>
              <a:buFont typeface="Syne"/>
              <a:buNone/>
            </a:pPr>
            <a:r>
              <a:rPr b="1" i="0" lang="en-US" sz="19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Resultados</a:t>
            </a:r>
            <a:endParaRPr b="0" i="0" sz="1950" u="none" cap="none" strike="noStrike"/>
          </a:p>
        </p:txBody>
      </p:sp>
      <p:sp>
        <p:nvSpPr>
          <p:cNvPr id="136" name="Google Shape;136;p17"/>
          <p:cNvSpPr/>
          <p:nvPr/>
        </p:nvSpPr>
        <p:spPr>
          <a:xfrm>
            <a:off x="2085856" y="7046000"/>
            <a:ext cx="6277332" cy="321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0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Resposta formatada em Markdown exibida na interface.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2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/>
          <p:nvPr/>
        </p:nvSpPr>
        <p:spPr>
          <a:xfrm>
            <a:off x="787956" y="619125"/>
            <a:ext cx="7568089" cy="2004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4200"/>
              <a:buFont typeface="Syne"/>
              <a:buNone/>
            </a:pPr>
            <a:r>
              <a:rPr b="1" i="0" lang="en-US" sz="420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A Experiência do Usuário: Interface Gradio</a:t>
            </a:r>
            <a:endParaRPr b="0" i="0" sz="4200" u="none" cap="none" strike="noStrike"/>
          </a:p>
        </p:txBody>
      </p:sp>
      <p:sp>
        <p:nvSpPr>
          <p:cNvPr id="144" name="Google Shape;144;p18"/>
          <p:cNvSpPr/>
          <p:nvPr/>
        </p:nvSpPr>
        <p:spPr>
          <a:xfrm>
            <a:off x="787956" y="2944773"/>
            <a:ext cx="3677126" cy="2737009"/>
          </a:xfrm>
          <a:prstGeom prst="roundRect">
            <a:avLst>
              <a:gd fmla="val 3282" name="adj"/>
            </a:avLst>
          </a:prstGeom>
          <a:solidFill>
            <a:srgbClr val="547808"/>
          </a:solidFill>
          <a:ln cap="flat" cmpd="sng" w="9525">
            <a:solidFill>
              <a:srgbClr val="6D9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1009412" y="3166229"/>
            <a:ext cx="3227070" cy="33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Syne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Design Intuitivo</a:t>
            </a:r>
            <a:endParaRPr b="0" i="0" sz="2100" u="none" cap="none" strike="noStrike"/>
          </a:p>
        </p:txBody>
      </p:sp>
      <p:sp>
        <p:nvSpPr>
          <p:cNvPr id="146" name="Google Shape;146;p18"/>
          <p:cNvSpPr/>
          <p:nvPr/>
        </p:nvSpPr>
        <p:spPr>
          <a:xfrm>
            <a:off x="1009412" y="3628668"/>
            <a:ext cx="3234214" cy="68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Interface construída com Gradio Blocks para layout personalizado.</a:t>
            </a:r>
            <a:endParaRPr b="0" i="0" sz="1650" u="none" cap="none" strike="noStrike"/>
          </a:p>
        </p:txBody>
      </p:sp>
      <p:sp>
        <p:nvSpPr>
          <p:cNvPr id="147" name="Google Shape;147;p18"/>
          <p:cNvSpPr/>
          <p:nvPr/>
        </p:nvSpPr>
        <p:spPr>
          <a:xfrm>
            <a:off x="1009412" y="4441508"/>
            <a:ext cx="3234214" cy="68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Acessível via link público temporário (.gradio.live).</a:t>
            </a:r>
            <a:endParaRPr b="0" i="0" sz="1650" u="none" cap="none" strike="noStrike"/>
          </a:p>
        </p:txBody>
      </p:sp>
      <p:sp>
        <p:nvSpPr>
          <p:cNvPr id="148" name="Google Shape;148;p18"/>
          <p:cNvSpPr/>
          <p:nvPr/>
        </p:nvSpPr>
        <p:spPr>
          <a:xfrm>
            <a:off x="4678918" y="2944773"/>
            <a:ext cx="3677126" cy="2737009"/>
          </a:xfrm>
          <a:prstGeom prst="roundRect">
            <a:avLst>
              <a:gd fmla="val 3282" name="adj"/>
            </a:avLst>
          </a:prstGeom>
          <a:solidFill>
            <a:srgbClr val="547808"/>
          </a:solidFill>
          <a:ln cap="flat" cmpd="sng" w="9525">
            <a:solidFill>
              <a:srgbClr val="6D9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4900374" y="3166229"/>
            <a:ext cx="3234214" cy="66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Syne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Organização Clara</a:t>
            </a:r>
            <a:endParaRPr b="0" i="0" sz="2100" u="none" cap="none" strike="noStrike"/>
          </a:p>
        </p:txBody>
      </p:sp>
      <p:sp>
        <p:nvSpPr>
          <p:cNvPr id="150" name="Google Shape;150;p18"/>
          <p:cNvSpPr/>
          <p:nvPr/>
        </p:nvSpPr>
        <p:spPr>
          <a:xfrm>
            <a:off x="4900374" y="3962876"/>
            <a:ext cx="3234214" cy="68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Seções definidas: Inputs, Botões e Outputs.</a:t>
            </a:r>
            <a:endParaRPr b="0" i="0" sz="1650" u="none" cap="none" strike="noStrike"/>
          </a:p>
        </p:txBody>
      </p:sp>
      <p:sp>
        <p:nvSpPr>
          <p:cNvPr id="151" name="Google Shape;151;p18"/>
          <p:cNvSpPr/>
          <p:nvPr/>
        </p:nvSpPr>
        <p:spPr>
          <a:xfrm>
            <a:off x="4900374" y="4775716"/>
            <a:ext cx="3234214" cy="684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Formatação Markdown para textos explicativos.</a:t>
            </a:r>
            <a:endParaRPr b="0" i="0" sz="1650" u="none" cap="none" strike="noStrike"/>
          </a:p>
        </p:txBody>
      </p:sp>
      <p:sp>
        <p:nvSpPr>
          <p:cNvPr id="152" name="Google Shape;152;p18"/>
          <p:cNvSpPr/>
          <p:nvPr/>
        </p:nvSpPr>
        <p:spPr>
          <a:xfrm>
            <a:off x="787956" y="5895618"/>
            <a:ext cx="7568089" cy="1718191"/>
          </a:xfrm>
          <a:prstGeom prst="roundRect">
            <a:avLst>
              <a:gd fmla="val 5229" name="adj"/>
            </a:avLst>
          </a:prstGeom>
          <a:solidFill>
            <a:srgbClr val="547808"/>
          </a:solidFill>
          <a:ln cap="flat" cmpd="sng" w="9525">
            <a:solidFill>
              <a:srgbClr val="6D9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1009412" y="6117074"/>
            <a:ext cx="5012650" cy="33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Syne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Abordagem Cuidadosa</a:t>
            </a:r>
            <a:endParaRPr b="0" i="0" sz="2100" u="none" cap="none" strike="noStrike"/>
          </a:p>
        </p:txBody>
      </p:sp>
      <p:sp>
        <p:nvSpPr>
          <p:cNvPr id="154" name="Google Shape;154;p18"/>
          <p:cNvSpPr/>
          <p:nvPr/>
        </p:nvSpPr>
        <p:spPr>
          <a:xfrm>
            <a:off x="1009412" y="6579513"/>
            <a:ext cx="7125176" cy="34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Design transmite profissionalismo e confiança.</a:t>
            </a:r>
            <a:endParaRPr b="0" i="0" sz="1650" u="none" cap="none" strike="noStrike"/>
          </a:p>
        </p:txBody>
      </p:sp>
      <p:sp>
        <p:nvSpPr>
          <p:cNvPr id="155" name="Google Shape;155;p18"/>
          <p:cNvSpPr/>
          <p:nvPr/>
        </p:nvSpPr>
        <p:spPr>
          <a:xfrm>
            <a:off x="1009412" y="7050048"/>
            <a:ext cx="7125176" cy="342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Tecnologia acessível para temas sensíveis como bem-estar.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6280190" y="693182"/>
            <a:ext cx="7556421" cy="202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4200"/>
              <a:buFont typeface="Syne"/>
              <a:buNone/>
            </a:pPr>
            <a:r>
              <a:rPr b="1" i="0" lang="en-US" sz="420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Processamento Visual: Detecção Facial</a:t>
            </a:r>
            <a:endParaRPr b="0" i="0" sz="420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6280190" y="3036570"/>
            <a:ext cx="161568" cy="1284565"/>
          </a:xfrm>
          <a:prstGeom prst="roundRect">
            <a:avLst>
              <a:gd fmla="val 56016" name="adj"/>
            </a:avLst>
          </a:prstGeom>
          <a:solidFill>
            <a:srgbClr val="547808"/>
          </a:solidFill>
          <a:ln cap="flat" cmpd="sng" w="9525">
            <a:solidFill>
              <a:srgbClr val="6D9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6764893" y="3036570"/>
            <a:ext cx="5132070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2100"/>
              <a:buFont typeface="Syne"/>
              <a:buNone/>
            </a:pPr>
            <a:r>
              <a:rPr b="1" i="0" lang="en-US" sz="21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Preparação da Imagem</a:t>
            </a:r>
            <a:endParaRPr b="0" i="0" sz="2100" u="none" cap="none" strike="noStrike"/>
          </a:p>
        </p:txBody>
      </p:sp>
      <p:sp>
        <p:nvSpPr>
          <p:cNvPr id="165" name="Google Shape;165;p19"/>
          <p:cNvSpPr/>
          <p:nvPr/>
        </p:nvSpPr>
        <p:spPr>
          <a:xfrm>
            <a:off x="6764893" y="3502343"/>
            <a:ext cx="7071717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Conversão para formato compatível com OpenCV.</a:t>
            </a:r>
            <a:endParaRPr b="0" i="0" sz="1650" u="none" cap="none" strike="noStrike"/>
          </a:p>
        </p:txBody>
      </p:sp>
      <p:sp>
        <p:nvSpPr>
          <p:cNvPr id="166" name="Google Shape;166;p19"/>
          <p:cNvSpPr/>
          <p:nvPr/>
        </p:nvSpPr>
        <p:spPr>
          <a:xfrm>
            <a:off x="6764893" y="3976330"/>
            <a:ext cx="7071717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Otimização para processamento eficiente.</a:t>
            </a:r>
            <a:endParaRPr b="0" i="0" sz="1650" u="none" cap="none" strike="noStrike"/>
          </a:p>
        </p:txBody>
      </p:sp>
      <p:sp>
        <p:nvSpPr>
          <p:cNvPr id="167" name="Google Shape;167;p19"/>
          <p:cNvSpPr/>
          <p:nvPr/>
        </p:nvSpPr>
        <p:spPr>
          <a:xfrm>
            <a:off x="6603325" y="4536519"/>
            <a:ext cx="161568" cy="1284565"/>
          </a:xfrm>
          <a:prstGeom prst="roundRect">
            <a:avLst>
              <a:gd fmla="val 56016" name="adj"/>
            </a:avLst>
          </a:prstGeom>
          <a:solidFill>
            <a:srgbClr val="547808"/>
          </a:solidFill>
          <a:ln cap="flat" cmpd="sng" w="9525">
            <a:solidFill>
              <a:srgbClr val="6D9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7088029" y="4536519"/>
            <a:ext cx="4952524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2100"/>
              <a:buFont typeface="Syne"/>
              <a:buNone/>
            </a:pPr>
            <a:r>
              <a:rPr b="1" i="0" lang="en-US" sz="21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Algoritmo de Detecção</a:t>
            </a:r>
            <a:endParaRPr b="0" i="0" sz="2100" u="none" cap="none" strike="noStrike"/>
          </a:p>
        </p:txBody>
      </p:sp>
      <p:sp>
        <p:nvSpPr>
          <p:cNvPr id="169" name="Google Shape;169;p19"/>
          <p:cNvSpPr/>
          <p:nvPr/>
        </p:nvSpPr>
        <p:spPr>
          <a:xfrm>
            <a:off x="7088029" y="5002292"/>
            <a:ext cx="674858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Haar Cascade varre diferentes escalas da imagem.</a:t>
            </a:r>
            <a:endParaRPr b="0" i="0" sz="1650" u="none" cap="none" strike="noStrike"/>
          </a:p>
        </p:txBody>
      </p:sp>
      <p:sp>
        <p:nvSpPr>
          <p:cNvPr id="170" name="Google Shape;170;p19"/>
          <p:cNvSpPr/>
          <p:nvPr/>
        </p:nvSpPr>
        <p:spPr>
          <a:xfrm>
            <a:off x="7088029" y="5476280"/>
            <a:ext cx="6748582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Busca padrões característicos de faces humanas.</a:t>
            </a:r>
            <a:endParaRPr b="0" i="0" sz="1650" u="none" cap="none" strike="noStrike"/>
          </a:p>
        </p:txBody>
      </p:sp>
      <p:sp>
        <p:nvSpPr>
          <p:cNvPr id="171" name="Google Shape;171;p19"/>
          <p:cNvSpPr/>
          <p:nvPr/>
        </p:nvSpPr>
        <p:spPr>
          <a:xfrm>
            <a:off x="6926580" y="6036469"/>
            <a:ext cx="161568" cy="1284565"/>
          </a:xfrm>
          <a:prstGeom prst="roundRect">
            <a:avLst>
              <a:gd fmla="val 56016" name="adj"/>
            </a:avLst>
          </a:prstGeom>
          <a:solidFill>
            <a:srgbClr val="547808"/>
          </a:solidFill>
          <a:ln cap="flat" cmpd="sng" w="9525">
            <a:solidFill>
              <a:srgbClr val="6D9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7411283" y="6036469"/>
            <a:ext cx="5635704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2100"/>
              <a:buFont typeface="Syne"/>
              <a:buNone/>
            </a:pPr>
            <a:r>
              <a:rPr b="1" i="0" lang="en-US" sz="21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Feedback Visual e Textual</a:t>
            </a:r>
            <a:endParaRPr b="0" i="0" sz="2100" u="none" cap="none" strike="noStrike"/>
          </a:p>
        </p:txBody>
      </p:sp>
      <p:sp>
        <p:nvSpPr>
          <p:cNvPr id="173" name="Google Shape;173;p19"/>
          <p:cNvSpPr/>
          <p:nvPr/>
        </p:nvSpPr>
        <p:spPr>
          <a:xfrm>
            <a:off x="7411283" y="6502241"/>
            <a:ext cx="6425327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Retângulo desenhado ao redor de cada face detectada.</a:t>
            </a:r>
            <a:endParaRPr b="0" i="0" sz="1650" u="none" cap="none" strike="noStrike"/>
          </a:p>
        </p:txBody>
      </p:sp>
      <p:sp>
        <p:nvSpPr>
          <p:cNvPr id="174" name="Google Shape;174;p19"/>
          <p:cNvSpPr/>
          <p:nvPr/>
        </p:nvSpPr>
        <p:spPr>
          <a:xfrm>
            <a:off x="7411283" y="6976229"/>
            <a:ext cx="6425327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650"/>
              <a:buFont typeface="Syne"/>
              <a:buNone/>
            </a:pPr>
            <a:r>
              <a:rPr b="0" i="0" lang="en-US" sz="16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Status textual incorporado ao prompt do Gemini.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666750" y="523875"/>
            <a:ext cx="13296900" cy="1012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3150"/>
              <a:buFont typeface="Syne"/>
              <a:buNone/>
            </a:pPr>
            <a:r>
              <a:rPr b="1" i="0" lang="en-US" sz="31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A Inteligência: Gemini e Prompt Engineering</a:t>
            </a:r>
            <a:endParaRPr b="0" i="0" sz="3150" u="none" cap="none" strike="noStrike"/>
          </a:p>
        </p:txBody>
      </p:sp>
      <p:pic>
        <p:nvPicPr>
          <p:cNvPr descr="preencoded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8134" y="1859756"/>
            <a:ext cx="1645444" cy="933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7032" y="2299573"/>
            <a:ext cx="227647" cy="28455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/>
          <p:nvPr/>
        </p:nvSpPr>
        <p:spPr>
          <a:xfrm>
            <a:off x="4975503" y="2021681"/>
            <a:ext cx="3991570" cy="253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Resultados Estruturados</a:t>
            </a:r>
            <a:endParaRPr b="0" i="0" sz="1550" u="none" cap="none" strike="noStrike"/>
          </a:p>
        </p:txBody>
      </p:sp>
      <p:sp>
        <p:nvSpPr>
          <p:cNvPr id="184" name="Google Shape;184;p20"/>
          <p:cNvSpPr/>
          <p:nvPr/>
        </p:nvSpPr>
        <p:spPr>
          <a:xfrm>
            <a:off x="4975503" y="2371844"/>
            <a:ext cx="3991570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250"/>
              <a:buFont typeface="Syne"/>
              <a:buNone/>
            </a:pPr>
            <a:r>
              <a:rPr b="0" i="0" lang="en-US" sz="12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Saída formatada para máxima utilidade ao usuário</a:t>
            </a:r>
            <a:endParaRPr b="0" i="0" sz="1250" u="none" cap="none" strike="noStrike"/>
          </a:p>
        </p:txBody>
      </p:sp>
      <p:sp>
        <p:nvSpPr>
          <p:cNvPr id="185" name="Google Shape;185;p20"/>
          <p:cNvSpPr/>
          <p:nvPr/>
        </p:nvSpPr>
        <p:spPr>
          <a:xfrm>
            <a:off x="4854059" y="2803565"/>
            <a:ext cx="9069110" cy="11430"/>
          </a:xfrm>
          <a:prstGeom prst="roundRect">
            <a:avLst>
              <a:gd fmla="val 595034" name="adj"/>
            </a:avLst>
          </a:prstGeom>
          <a:solidFill>
            <a:srgbClr val="6D9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5412" y="2833330"/>
            <a:ext cx="3290887" cy="933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6913" y="3157538"/>
            <a:ext cx="227647" cy="28455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>
            <a:off x="5798225" y="2995255"/>
            <a:ext cx="3188494" cy="253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Prompt Engineering</a:t>
            </a:r>
            <a:endParaRPr b="0" i="0" sz="1550" u="none" cap="none" strike="noStrike"/>
          </a:p>
        </p:txBody>
      </p:sp>
      <p:sp>
        <p:nvSpPr>
          <p:cNvPr id="189" name="Google Shape;189;p20"/>
          <p:cNvSpPr/>
          <p:nvPr/>
        </p:nvSpPr>
        <p:spPr>
          <a:xfrm>
            <a:off x="5798225" y="3345418"/>
            <a:ext cx="3188494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250"/>
              <a:buFont typeface="Syne"/>
              <a:buNone/>
            </a:pPr>
            <a:r>
              <a:rPr b="0" i="0" lang="en-US" sz="12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Instruções detalhadas para guiar o modelo</a:t>
            </a:r>
            <a:endParaRPr b="0" i="0" sz="1250" u="none" cap="none" strike="noStrike"/>
          </a:p>
        </p:txBody>
      </p:sp>
      <p:sp>
        <p:nvSpPr>
          <p:cNvPr id="190" name="Google Shape;190;p20"/>
          <p:cNvSpPr/>
          <p:nvPr/>
        </p:nvSpPr>
        <p:spPr>
          <a:xfrm>
            <a:off x="5676781" y="3777139"/>
            <a:ext cx="8246388" cy="11430"/>
          </a:xfrm>
          <a:prstGeom prst="roundRect">
            <a:avLst>
              <a:gd fmla="val 595034" name="adj"/>
            </a:avLst>
          </a:prstGeom>
          <a:solidFill>
            <a:srgbClr val="6D9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2690" y="3806904"/>
            <a:ext cx="4936450" cy="933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77032" y="4131112"/>
            <a:ext cx="227647" cy="28455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6621066" y="3968829"/>
            <a:ext cx="2048589" cy="253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ChatSession</a:t>
            </a:r>
            <a:endParaRPr b="0" i="0" sz="1550" u="none" cap="none" strike="noStrike"/>
          </a:p>
        </p:txBody>
      </p:sp>
      <p:sp>
        <p:nvSpPr>
          <p:cNvPr id="194" name="Google Shape;194;p20"/>
          <p:cNvSpPr/>
          <p:nvPr/>
        </p:nvSpPr>
        <p:spPr>
          <a:xfrm>
            <a:off x="6621066" y="4318992"/>
            <a:ext cx="3556873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250"/>
              <a:buFont typeface="Syne"/>
              <a:buNone/>
            </a:pPr>
            <a:r>
              <a:rPr b="0" i="0" lang="en-US" sz="12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Mantém contexto da conversa ao longo do tempo</a:t>
            </a:r>
            <a:endParaRPr b="0" i="0" sz="1250" u="none" cap="none" strike="noStrike"/>
          </a:p>
        </p:txBody>
      </p:sp>
      <p:sp>
        <p:nvSpPr>
          <p:cNvPr id="195" name="Google Shape;195;p20"/>
          <p:cNvSpPr/>
          <p:nvPr/>
        </p:nvSpPr>
        <p:spPr>
          <a:xfrm>
            <a:off x="6499622" y="4750713"/>
            <a:ext cx="7423547" cy="11430"/>
          </a:xfrm>
          <a:prstGeom prst="roundRect">
            <a:avLst>
              <a:gd fmla="val 595034" name="adj"/>
            </a:avLst>
          </a:prstGeom>
          <a:solidFill>
            <a:srgbClr val="6D9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9968" y="4780478"/>
            <a:ext cx="6581894" cy="9330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77032" y="5104686"/>
            <a:ext cx="227647" cy="28455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/>
          <p:nvPr/>
        </p:nvSpPr>
        <p:spPr>
          <a:xfrm>
            <a:off x="7443788" y="4942403"/>
            <a:ext cx="2555558" cy="253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Gemini 1.5 Flash</a:t>
            </a:r>
            <a:endParaRPr b="0" i="0" sz="1550" u="none" cap="none" strike="noStrike"/>
          </a:p>
        </p:txBody>
      </p:sp>
      <p:sp>
        <p:nvSpPr>
          <p:cNvPr id="199" name="Google Shape;199;p20"/>
          <p:cNvSpPr/>
          <p:nvPr/>
        </p:nvSpPr>
        <p:spPr>
          <a:xfrm>
            <a:off x="7443788" y="5292566"/>
            <a:ext cx="3242786" cy="25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250"/>
              <a:buFont typeface="Syne"/>
              <a:buNone/>
            </a:pPr>
            <a:r>
              <a:rPr b="0" i="0" lang="en-US" sz="12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Capacidade avançada de análise multimodal</a:t>
            </a:r>
            <a:endParaRPr b="0" i="0" sz="1250" u="none" cap="none" strike="noStrike"/>
          </a:p>
        </p:txBody>
      </p:sp>
      <p:pic>
        <p:nvPicPr>
          <p:cNvPr descr="preencoded.png" id="200" name="Google Shape;200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6750" y="5895737"/>
            <a:ext cx="1950720" cy="195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/>
          <p:nvPr/>
        </p:nvSpPr>
        <p:spPr>
          <a:xfrm>
            <a:off x="793790" y="657701"/>
            <a:ext cx="13042821" cy="1204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3750"/>
              <a:buFont typeface="Syne"/>
              <a:buNone/>
            </a:pPr>
            <a:r>
              <a:rPr b="1" i="0" lang="en-US" sz="37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Apresentando os Resultados: Layout do Gradio</a:t>
            </a:r>
            <a:endParaRPr b="0" i="0" sz="3750" u="none" cap="none" strike="noStrike"/>
          </a:p>
        </p:txBody>
      </p:sp>
      <p:pic>
        <p:nvPicPr>
          <p:cNvPr descr="preencoded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410" y="2373392"/>
            <a:ext cx="4239697" cy="4239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5292" y="2373392"/>
            <a:ext cx="4239697" cy="4239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89175" y="2373392"/>
            <a:ext cx="4239697" cy="423969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/>
          <p:nvPr/>
        </p:nvSpPr>
        <p:spPr>
          <a:xfrm>
            <a:off x="793790" y="6955155"/>
            <a:ext cx="13042821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00"/>
              <a:buFont typeface="Syne"/>
              <a:buNone/>
            </a:pPr>
            <a:r>
              <a:rPr b="0" i="0" lang="en-US" sz="15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Layout flexível com gr.Blocks, gr.Row e gr.Column. Componentes separados para Análise, Sugestões, Recursos e imagem processada. CSS personalizado para elementos centralizados e esteticamente agradáveis.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/>
          <p:nvPr/>
        </p:nvSpPr>
        <p:spPr>
          <a:xfrm>
            <a:off x="793790" y="807363"/>
            <a:ext cx="12418457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2900"/>
              <a:buFont typeface="Syne"/>
              <a:buNone/>
            </a:pPr>
            <a:r>
              <a:rPr b="1" i="0" lang="en-US" sz="290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Superando Obstáculos: Lições Aprendidas</a:t>
            </a:r>
            <a:endParaRPr b="0" i="0" sz="2900" u="none" cap="none" strike="noStrike"/>
          </a:p>
        </p:txBody>
      </p:sp>
      <p:pic>
        <p:nvPicPr>
          <p:cNvPr descr="preencoded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1906" y="2762250"/>
            <a:ext cx="5086588" cy="5086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476" y="4420017"/>
            <a:ext cx="248722" cy="310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1906" y="2762250"/>
            <a:ext cx="5086588" cy="5086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0867" y="3387626"/>
            <a:ext cx="248722" cy="310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1906" y="2762250"/>
            <a:ext cx="5086588" cy="5086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20692" y="3387626"/>
            <a:ext cx="248722" cy="310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71906" y="2762250"/>
            <a:ext cx="5086588" cy="5086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53083" y="4420017"/>
            <a:ext cx="248722" cy="310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93790" y="5471398"/>
            <a:ext cx="1950720" cy="195072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/>
          <p:nvPr/>
        </p:nvSpPr>
        <p:spPr>
          <a:xfrm>
            <a:off x="793790" y="2388751"/>
            <a:ext cx="3094792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1450"/>
              <a:buFont typeface="Syne"/>
              <a:buNone/>
            </a:pPr>
            <a:r>
              <a:rPr b="1" i="0" lang="en-US" sz="14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Inconsistências de Versão</a:t>
            </a:r>
            <a:endParaRPr b="0" i="0" sz="1450" u="none" cap="none" strike="noStrike"/>
          </a:p>
        </p:txBody>
      </p:sp>
      <p:sp>
        <p:nvSpPr>
          <p:cNvPr id="227" name="Google Shape;227;p22"/>
          <p:cNvSpPr/>
          <p:nvPr/>
        </p:nvSpPr>
        <p:spPr>
          <a:xfrm>
            <a:off x="793790" y="2937867"/>
            <a:ext cx="3094792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150"/>
              <a:buFont typeface="Syne"/>
              <a:buNone/>
            </a:pPr>
            <a:r>
              <a:rPr b="0" i="0" lang="en-US" sz="11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Adaptação para diferenças em parâmetros do Gradio.</a:t>
            </a:r>
            <a:endParaRPr b="0" i="0" sz="1150" u="none" cap="none" strike="noStrike"/>
          </a:p>
        </p:txBody>
      </p:sp>
      <p:sp>
        <p:nvSpPr>
          <p:cNvPr id="228" name="Google Shape;228;p22"/>
          <p:cNvSpPr/>
          <p:nvPr/>
        </p:nvSpPr>
        <p:spPr>
          <a:xfrm>
            <a:off x="4109680" y="1562933"/>
            <a:ext cx="3094911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1450"/>
              <a:buFont typeface="Syne"/>
              <a:buNone/>
            </a:pPr>
            <a:r>
              <a:rPr b="1" i="0" lang="en-US" sz="14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Formatação do Output</a:t>
            </a:r>
            <a:endParaRPr b="0" i="0" sz="1450" u="none" cap="none" strike="noStrike"/>
          </a:p>
        </p:txBody>
      </p:sp>
      <p:sp>
        <p:nvSpPr>
          <p:cNvPr id="229" name="Google Shape;229;p22"/>
          <p:cNvSpPr/>
          <p:nvPr/>
        </p:nvSpPr>
        <p:spPr>
          <a:xfrm>
            <a:off x="4109680" y="2112050"/>
            <a:ext cx="3094911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150"/>
              <a:buFont typeface="Syne"/>
              <a:buNone/>
            </a:pPr>
            <a:r>
              <a:rPr b="0" i="0" lang="en-US" sz="11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Refinamento do prompt e pós-processamento para estruturação.</a:t>
            </a:r>
            <a:endParaRPr b="0" i="0" sz="1150" u="none" cap="none" strike="noStrike"/>
          </a:p>
        </p:txBody>
      </p:sp>
      <p:sp>
        <p:nvSpPr>
          <p:cNvPr id="230" name="Google Shape;230;p22"/>
          <p:cNvSpPr/>
          <p:nvPr/>
        </p:nvSpPr>
        <p:spPr>
          <a:xfrm>
            <a:off x="7425690" y="1798677"/>
            <a:ext cx="3094911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1450"/>
              <a:buFont typeface="Syne"/>
              <a:buNone/>
            </a:pPr>
            <a:r>
              <a:rPr b="1" i="0" lang="en-US" sz="14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Integração de Tecnologias</a:t>
            </a:r>
            <a:endParaRPr b="0" i="0" sz="1450" u="none" cap="none" strike="noStrike"/>
          </a:p>
        </p:txBody>
      </p:sp>
      <p:sp>
        <p:nvSpPr>
          <p:cNvPr id="231" name="Google Shape;231;p22"/>
          <p:cNvSpPr/>
          <p:nvPr/>
        </p:nvSpPr>
        <p:spPr>
          <a:xfrm>
            <a:off x="7425690" y="2347793"/>
            <a:ext cx="3094911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150"/>
              <a:buFont typeface="Syne"/>
              <a:buNone/>
            </a:pPr>
            <a:r>
              <a:rPr b="0" i="0" lang="en-US" sz="11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Fluxo coerente entre Gemini, OpenCV e Gradio.</a:t>
            </a:r>
            <a:endParaRPr b="0" i="0" sz="1150" u="none" cap="none" strike="noStrike"/>
          </a:p>
        </p:txBody>
      </p:sp>
      <p:sp>
        <p:nvSpPr>
          <p:cNvPr id="232" name="Google Shape;232;p22"/>
          <p:cNvSpPr/>
          <p:nvPr/>
        </p:nvSpPr>
        <p:spPr>
          <a:xfrm>
            <a:off x="10741700" y="2388751"/>
            <a:ext cx="3094911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1450"/>
              <a:buFont typeface="Syne"/>
              <a:buNone/>
            </a:pPr>
            <a:r>
              <a:rPr b="1" i="0" lang="en-US" sz="14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Considerações Éticas</a:t>
            </a:r>
            <a:endParaRPr b="0" i="0" sz="1450" u="none" cap="none" strike="noStrike"/>
          </a:p>
        </p:txBody>
      </p:sp>
      <p:sp>
        <p:nvSpPr>
          <p:cNvPr id="233" name="Google Shape;233;p22"/>
          <p:cNvSpPr/>
          <p:nvPr/>
        </p:nvSpPr>
        <p:spPr>
          <a:xfrm>
            <a:off x="10741700" y="2937867"/>
            <a:ext cx="3094911" cy="471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150"/>
              <a:buFont typeface="Syne"/>
              <a:buNone/>
            </a:pPr>
            <a:r>
              <a:rPr b="0" i="0" lang="en-US" sz="11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Avisos claros e recursos de ajuda para temas sensíveis.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/>
          <p:nvPr/>
        </p:nvSpPr>
        <p:spPr>
          <a:xfrm>
            <a:off x="793790" y="1211699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4450"/>
              <a:buFont typeface="Syne"/>
              <a:buNone/>
            </a:pPr>
            <a:r>
              <a:rPr b="1" i="0" lang="en-US" sz="445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Responsabilidade e Ética no Uso da IA</a:t>
            </a:r>
            <a:endParaRPr b="0" i="0" sz="4450" u="none" cap="none" strike="noStrike"/>
          </a:p>
        </p:txBody>
      </p:sp>
      <p:sp>
        <p:nvSpPr>
          <p:cNvPr id="241" name="Google Shape;241;p23"/>
          <p:cNvSpPr/>
          <p:nvPr/>
        </p:nvSpPr>
        <p:spPr>
          <a:xfrm>
            <a:off x="793790" y="3678198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O BurnoutCheck IA é um projeto experimental e educacional. Não realiza diagnósticos médicos.</a:t>
            </a:r>
            <a:endParaRPr b="0" i="0" sz="1750" u="none" cap="none" strike="noStrike"/>
          </a:p>
        </p:txBody>
      </p:sp>
      <p:sp>
        <p:nvSpPr>
          <p:cNvPr id="242" name="Google Shape;242;p23"/>
          <p:cNvSpPr/>
          <p:nvPr/>
        </p:nvSpPr>
        <p:spPr>
          <a:xfrm>
            <a:off x="793790" y="4659154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A ferramenta não substitui a avaliação de profissionais de saúde qualificados. O usuário deve compreender suas limitações.</a:t>
            </a:r>
            <a:endParaRPr b="0" i="0" sz="1750" u="none" cap="none" strike="noStrike"/>
          </a:p>
        </p:txBody>
      </p:sp>
      <p:sp>
        <p:nvSpPr>
          <p:cNvPr id="243" name="Google Shape;243;p23"/>
          <p:cNvSpPr/>
          <p:nvPr/>
        </p:nvSpPr>
        <p:spPr>
          <a:xfrm>
            <a:off x="793790" y="5640110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750"/>
              <a:buFont typeface="Syne"/>
              <a:buNone/>
            </a:pPr>
            <a:r>
              <a:rPr b="0" i="0" lang="en-US" sz="17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Em casos de preocupação real, busque ajuda profissional: CVV (188), SAMU (192), CAPS, ou consultas especializadas.</a:t>
            </a:r>
            <a:endParaRPr b="0" i="0" sz="1750" u="none" cap="none" strike="noStrike"/>
          </a:p>
        </p:txBody>
      </p:sp>
      <p:sp>
        <p:nvSpPr>
          <p:cNvPr id="244" name="Google Shape;244;p23"/>
          <p:cNvSpPr/>
          <p:nvPr/>
        </p:nvSpPr>
        <p:spPr>
          <a:xfrm>
            <a:off x="793790" y="6637973"/>
            <a:ext cx="362903" cy="362903"/>
          </a:xfrm>
          <a:prstGeom prst="roundRect">
            <a:avLst>
              <a:gd fmla="val 25194296" name="adj"/>
            </a:avLst>
          </a:prstGeom>
          <a:noFill/>
          <a:ln cap="flat" cmpd="sng" w="9525">
            <a:solidFill>
              <a:srgbClr val="4D4D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410" y="6645592"/>
            <a:ext cx="347663" cy="34766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/>
          <p:nvPr/>
        </p:nvSpPr>
        <p:spPr>
          <a:xfrm>
            <a:off x="1270040" y="6621066"/>
            <a:ext cx="2752725" cy="396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2200"/>
              <a:buFont typeface="Syne"/>
              <a:buNone/>
            </a:pPr>
            <a:r>
              <a:rPr b="1" i="0" lang="en-US" sz="220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por Felipe Jaques</a:t>
            </a:r>
            <a:endParaRPr b="0" i="0" sz="22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3" name="Google Shape;2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2358" y="1569958"/>
            <a:ext cx="5089684" cy="508968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/>
          <p:nvPr/>
        </p:nvSpPr>
        <p:spPr>
          <a:xfrm>
            <a:off x="793790" y="1594366"/>
            <a:ext cx="7556421" cy="992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F0F4F1"/>
              </a:buClr>
              <a:buSzPts val="3100"/>
              <a:buFont typeface="Syne"/>
              <a:buNone/>
            </a:pPr>
            <a:r>
              <a:rPr b="1" i="0" lang="en-US" sz="3100" u="none" cap="none" strike="noStrike">
                <a:solidFill>
                  <a:srgbClr val="F0F4F1"/>
                </a:solidFill>
                <a:latin typeface="Syne"/>
                <a:ea typeface="Syne"/>
                <a:cs typeface="Syne"/>
                <a:sym typeface="Syne"/>
              </a:rPr>
              <a:t>Próximos Passos e Potencial de Expansão</a:t>
            </a:r>
            <a:endParaRPr b="0" i="0" sz="3100" u="none" cap="none" strike="noStrike"/>
          </a:p>
        </p:txBody>
      </p:sp>
      <p:pic>
        <p:nvPicPr>
          <p:cNvPr descr="preencoded.png" id="255" name="Google Shape;25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2824758"/>
            <a:ext cx="793790" cy="95261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/>
          <p:nvPr/>
        </p:nvSpPr>
        <p:spPr>
          <a:xfrm>
            <a:off x="1825704" y="2983468"/>
            <a:ext cx="3851196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Análise Visual Avançada</a:t>
            </a:r>
            <a:endParaRPr b="0" i="0" sz="1550" u="none" cap="none" strike="noStrike"/>
          </a:p>
        </p:txBody>
      </p:sp>
      <p:sp>
        <p:nvSpPr>
          <p:cNvPr id="257" name="Google Shape;257;p24"/>
          <p:cNvSpPr/>
          <p:nvPr/>
        </p:nvSpPr>
        <p:spPr>
          <a:xfrm>
            <a:off x="1825704" y="3326725"/>
            <a:ext cx="6524506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250"/>
              <a:buFont typeface="Syne"/>
              <a:buNone/>
            </a:pPr>
            <a:r>
              <a:rPr b="0" i="0" lang="en-US" sz="12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Detecção de pontos faciais e expressões, com ressalvas éticas.</a:t>
            </a:r>
            <a:endParaRPr b="0" i="0" sz="1250" u="none" cap="none" strike="noStrike"/>
          </a:p>
        </p:txBody>
      </p:sp>
      <p:pic>
        <p:nvPicPr>
          <p:cNvPr descr="preencoded.png" id="258" name="Google Shape;25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3777377"/>
            <a:ext cx="793790" cy="95261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/>
          <p:nvPr/>
        </p:nvSpPr>
        <p:spPr>
          <a:xfrm>
            <a:off x="1825704" y="3936087"/>
            <a:ext cx="3883343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Mais Dados Contextuais</a:t>
            </a:r>
            <a:endParaRPr b="0" i="0" sz="1550" u="none" cap="none" strike="noStrike"/>
          </a:p>
        </p:txBody>
      </p:sp>
      <p:sp>
        <p:nvSpPr>
          <p:cNvPr id="260" name="Google Shape;260;p24"/>
          <p:cNvSpPr/>
          <p:nvPr/>
        </p:nvSpPr>
        <p:spPr>
          <a:xfrm>
            <a:off x="1825704" y="4279344"/>
            <a:ext cx="6524506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250"/>
              <a:buFont typeface="Syne"/>
              <a:buNone/>
            </a:pPr>
            <a:r>
              <a:rPr b="0" i="0" lang="en-US" sz="12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Integração de informações sobre sono e alimentação.</a:t>
            </a:r>
            <a:endParaRPr b="0" i="0" sz="1250" u="none" cap="none" strike="noStrike"/>
          </a:p>
        </p:txBody>
      </p:sp>
      <p:pic>
        <p:nvPicPr>
          <p:cNvPr descr="preencoded.png" id="261" name="Google Shape;26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4729996"/>
            <a:ext cx="793790" cy="95261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4"/>
          <p:cNvSpPr/>
          <p:nvPr/>
        </p:nvSpPr>
        <p:spPr>
          <a:xfrm>
            <a:off x="1825704" y="4888706"/>
            <a:ext cx="3604617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Infraestrutura Robusta</a:t>
            </a:r>
            <a:endParaRPr b="0" i="0" sz="1550" u="none" cap="none" strike="noStrike"/>
          </a:p>
        </p:txBody>
      </p:sp>
      <p:sp>
        <p:nvSpPr>
          <p:cNvPr id="263" name="Google Shape;263;p24"/>
          <p:cNvSpPr/>
          <p:nvPr/>
        </p:nvSpPr>
        <p:spPr>
          <a:xfrm>
            <a:off x="1825704" y="5231963"/>
            <a:ext cx="6524506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250"/>
              <a:buFont typeface="Syne"/>
              <a:buNone/>
            </a:pPr>
            <a:r>
              <a:rPr b="0" i="0" lang="en-US" sz="12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Implantação em serviços como Hugging Face Spaces.</a:t>
            </a:r>
            <a:endParaRPr b="0" i="0" sz="1250" u="none" cap="none" strike="noStrike"/>
          </a:p>
        </p:txBody>
      </p:sp>
      <p:pic>
        <p:nvPicPr>
          <p:cNvPr descr="preencoded.png" id="264" name="Google Shape;26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790" y="5682615"/>
            <a:ext cx="793790" cy="95261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/>
          <p:nvPr/>
        </p:nvSpPr>
        <p:spPr>
          <a:xfrm>
            <a:off x="1825704" y="5841325"/>
            <a:ext cx="3397568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Autenticação e Perfis</a:t>
            </a:r>
            <a:endParaRPr b="0" i="0" sz="1550" u="none" cap="none" strike="noStrike"/>
          </a:p>
        </p:txBody>
      </p:sp>
      <p:sp>
        <p:nvSpPr>
          <p:cNvPr id="266" name="Google Shape;266;p24"/>
          <p:cNvSpPr/>
          <p:nvPr/>
        </p:nvSpPr>
        <p:spPr>
          <a:xfrm>
            <a:off x="1825704" y="6184583"/>
            <a:ext cx="6524506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7E5D8"/>
              </a:buClr>
              <a:buSzPts val="1250"/>
              <a:buFont typeface="Syne"/>
              <a:buNone/>
            </a:pPr>
            <a:r>
              <a:rPr b="0" i="0" lang="en-US" sz="1250" u="none" cap="none" strike="noStrike">
                <a:solidFill>
                  <a:srgbClr val="D7E5D8"/>
                </a:solidFill>
                <a:latin typeface="Syne"/>
                <a:ea typeface="Syne"/>
                <a:cs typeface="Syne"/>
                <a:sym typeface="Syne"/>
              </a:rPr>
              <a:t>Evolução para um serviço mais completo e personalizado.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